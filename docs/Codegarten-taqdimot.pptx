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A1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41A17"/>
                </a:solidFill>
                <a:latin typeface="Calibri"/>
              </a:rPr>
              <a:t>80 dars — turlari bo'yicha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Dars turlari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6B54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AEB8B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FD7D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17803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Mashq — 30</c:v>
                </c:pt>
                <c:pt idx="1">
                  <c:v>Takrorlash — 18</c:v>
                </c:pt>
                <c:pt idx="2">
                  <c:v>Tushuncha — 18</c:v>
                </c:pt>
                <c:pt idx="3">
                  <c:v>Sinov — 14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18</c:v>
                </c:pt>
                <c:pt idx="2">
                  <c:v>18</c:v>
                </c:pt>
                <c:pt idx="3">
                  <c:v>14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B454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Jumboqlar</c:v>
                </c:pt>
              </c:strCache>
            </c:strRef>
          </c:tx>
          <c:spPr>
            <a:solidFill>
              <a:srgbClr val="26B5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B454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Sikl naqshi</c:v>
                  </c:pt>
                  <c:pt idx="1">
                    <c:v>Xatoni topish</c:v>
                  </c:pt>
                  <c:pt idx="2">
                    <c:v>Ketma-ketlik</c:v>
                  </c:pt>
                  <c:pt idx="3">
                    <c:v>Samaradorlik</c:v>
                  </c:pt>
                  <c:pt idx="4">
                    <c:v>O'zgaruvchilar</c:v>
                  </c:pt>
                  <c:pt idx="5">
                    <c:v>Funksiya fabrikasi</c:v>
                  </c:pt>
                  <c:pt idx="6">
                    <c:v>Shartlar</c:v>
                  </c:pt>
                  <c:pt idx="7">
                    <c:v>Robot maydoni</c:v>
                  </c:pt>
                  <c:pt idx="8">
                    <c:v>Shakllarni bo'yash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6</c:v>
                </c:pt>
                <c:pt idx="8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B454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41A1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Codegarten — o'zbek tilidagi interaktiv informatika platformasi. Bugungi holat: bitta to'liq yo'nalish, 6 modul, 80 dars, 9 interaktiv o'yin.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 muammo: til, passivlik, izohsiz xato. Codegarten uchalasini birga hal qiladi.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 tamoyil: ona tili + asl atama, har darsda amaliyot, xatoni tushuntirish.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 daraja: yo'nalish, modul, bosqich, dars. Kontent JSON, shuning uchun kurs kod bilan bog'lanmagan.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Dars qadamlari va bo'lim bloklari — ikkisi ham muallif qo'lida. Tartib qat'iy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To'qqiz o'yin, har biri bitta tushunchani mashq qildiradi.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69 jumboq, 44 amaliy dars — nol takror. Tanlash navbat bilan, tasodifiy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XP, zanjir, 12 yutuq va modul darajasidagi davom ettirish.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Writer: uch panel, bitta tanlov. Eksport ZIP — fayllar to'g'ridan-to'g'ri loyihaga tushadi.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Testerlar eng uzun variantni tanlab testni chetlab o'tgan. 57 savol qayta yozildi, qoida tekshirgichga qo'shildi.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To'rt qatlam: ilova, kontent, o'yinlar, muharrir. Har biri alohida o'sadi.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Hozirgi hajm: 80 dars, 103 savol, 228 atama, 9 o'yin, 69 jumboq, 12 yutuq.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Keyingi bosqich: ikkinchi yo'nalish, o'qituvchi paneli, server progressi.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836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6464" y="786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26B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TAQDIMOTI · 2026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40080" y="2084832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Codegarten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640080" y="3163824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tilida interaktiv informatika va dasturlash maktabi — o'qib emas, qilib o'rganiladi.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4315968"/>
            <a:ext cx="925373" cy="329184"/>
          </a:xfrm>
          <a:prstGeom prst="roundRect">
            <a:avLst>
              <a:gd name="adj" fmla="val 50000"/>
            </a:avLst>
          </a:prstGeom>
          <a:solidFill>
            <a:srgbClr val="1E2723"/>
          </a:solidFill>
          <a:ln w="12700">
            <a:solidFill>
              <a:srgbClr val="2C38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315968"/>
            <a:ext cx="9253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dars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711757" y="4315968"/>
            <a:ext cx="1890979" cy="329184"/>
          </a:xfrm>
          <a:prstGeom prst="roundRect">
            <a:avLst>
              <a:gd name="adj" fmla="val 50000"/>
            </a:avLst>
          </a:prstGeom>
          <a:solidFill>
            <a:srgbClr val="1E2723"/>
          </a:solidFill>
          <a:ln w="12700">
            <a:solidFill>
              <a:srgbClr val="2C38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11757" y="4315968"/>
            <a:ext cx="18909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interaktiv o'yin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49040" y="4315968"/>
            <a:ext cx="925373" cy="329184"/>
          </a:xfrm>
          <a:prstGeom prst="roundRect">
            <a:avLst>
              <a:gd name="adj" fmla="val 50000"/>
            </a:avLst>
          </a:prstGeom>
          <a:solidFill>
            <a:srgbClr val="1E2723"/>
          </a:solidFill>
          <a:ln w="12700">
            <a:solidFill>
              <a:srgbClr val="2C38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4315968"/>
            <a:ext cx="9253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20717" y="4315968"/>
            <a:ext cx="2066544" cy="329184"/>
          </a:xfrm>
          <a:prstGeom prst="roundRect">
            <a:avLst>
              <a:gd name="adj" fmla="val 50000"/>
            </a:avLst>
          </a:prstGeom>
          <a:solidFill>
            <a:srgbClr val="1E2723"/>
          </a:solidFill>
          <a:ln w="12700">
            <a:solidFill>
              <a:srgbClr val="2C38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20717" y="4315968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TypeScript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0" y="2029968"/>
            <a:ext cx="1700784" cy="1225296"/>
          </a:xfrm>
          <a:prstGeom prst="roundRect">
            <a:avLst>
              <a:gd name="adj" fmla="val 10448"/>
            </a:avLst>
          </a:prstGeom>
          <a:solidFill>
            <a:srgbClr val="1E2723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10144" y="2249424"/>
            <a:ext cx="420624" cy="420624"/>
          </a:xfrm>
          <a:prstGeom prst="ellipse">
            <a:avLst/>
          </a:prstGeom>
          <a:solidFill>
            <a:srgbClr val="22302A"/>
          </a:solidFill>
          <a:ln w="12700">
            <a:solidFill>
              <a:srgbClr val="2230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3712" y="2362992"/>
            <a:ext cx="193487" cy="19348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10144" y="279806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 tilida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9747504" y="2029968"/>
            <a:ext cx="1700784" cy="1225296"/>
          </a:xfrm>
          <a:prstGeom prst="roundRect">
            <a:avLst>
              <a:gd name="adj" fmla="val 10448"/>
            </a:avLst>
          </a:prstGeom>
          <a:solidFill>
            <a:srgbClr val="1E2723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985248" y="2249424"/>
            <a:ext cx="420624" cy="420624"/>
          </a:xfrm>
          <a:prstGeom prst="ellipse">
            <a:avLst/>
          </a:prstGeom>
          <a:solidFill>
            <a:srgbClr val="22302A"/>
          </a:solidFill>
          <a:ln w="12700">
            <a:solidFill>
              <a:srgbClr val="22302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816" y="2362992"/>
            <a:ext cx="193487" cy="1934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985248" y="279806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0" y="3529584"/>
            <a:ext cx="1700784" cy="1225296"/>
          </a:xfrm>
          <a:prstGeom prst="roundRect">
            <a:avLst>
              <a:gd name="adj" fmla="val 10448"/>
            </a:avLst>
          </a:prstGeom>
          <a:solidFill>
            <a:srgbClr val="1E2723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10144" y="3749040"/>
            <a:ext cx="420624" cy="420624"/>
          </a:xfrm>
          <a:prstGeom prst="ellipse">
            <a:avLst/>
          </a:prstGeom>
          <a:solidFill>
            <a:srgbClr val="22302A"/>
          </a:solidFill>
          <a:ln w="12700">
            <a:solidFill>
              <a:srgbClr val="22302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712" y="3862608"/>
            <a:ext cx="193487" cy="1934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010144" y="42976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Tezkor izoh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9747504" y="3529584"/>
            <a:ext cx="1700784" cy="1225296"/>
          </a:xfrm>
          <a:prstGeom prst="roundRect">
            <a:avLst>
              <a:gd name="adj" fmla="val 10448"/>
            </a:avLst>
          </a:prstGeom>
          <a:solidFill>
            <a:srgbClr val="1E2723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985248" y="3749040"/>
            <a:ext cx="420624" cy="420624"/>
          </a:xfrm>
          <a:prstGeom prst="ellipse">
            <a:avLst/>
          </a:prstGeom>
          <a:solidFill>
            <a:srgbClr val="22302A"/>
          </a:solidFill>
          <a:ln w="12700">
            <a:solidFill>
              <a:srgbClr val="22302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8816" y="3862608"/>
            <a:ext cx="193487" cy="19348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985248" y="42976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Motivatsiya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640080" y="5998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github.com/uz4studiosuz/codegarten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KERAK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Boshlovchi o'quvchi qayerda to'xtab qoladi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1728582"/>
            <a:ext cx="218724" cy="2187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572768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Materiallar ingliz tilida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16736" y="1865376"/>
            <a:ext cx="5998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dasturlashni o'rganishdan oldin ingliz tilini o'rganishga majbur bo'ladi — birinchi to'siq mavzu emas, til.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293559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779776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ko'rish — passiv jarayon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16736" y="3072384"/>
            <a:ext cx="5998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Darsni tomosha qilgan o'quvchi tushunganday bo'ladi, lekin mustaqil masalaga o'tganda qo'li bormaydi.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014216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4142598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986784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qilganda tushuntiruvchi yo'q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16736" y="4279392"/>
            <a:ext cx="5998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«Noto'g'ri» degan javob hech narsa o'rgatmaydi. Nima uchun noto'g'ri ekanini aytish kerak.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772400" y="1600200"/>
            <a:ext cx="3779215" cy="3977640"/>
          </a:xfrm>
          <a:prstGeom prst="roundRect">
            <a:avLst>
              <a:gd name="adj" fmla="val 3387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56448" y="2002536"/>
            <a:ext cx="548640" cy="548640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581" y="2150669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56448" y="2734056"/>
            <a:ext cx="30111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uchta bo'shliq bitta mahsulotda yopilishi kerak edi: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156448" y="3227832"/>
            <a:ext cx="3011119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o'zbek tilida tushuntiradigan, har darsni amaliyot bilan yakunlaydigan va xatoni o'qitish nuqtasiga aylantiradigan platforma.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Uch tamoyil ustiga qurilgan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393338" cy="3950208"/>
          </a:xfrm>
          <a:prstGeom prst="roundRect">
            <a:avLst>
              <a:gd name="adj" fmla="val 3773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938528"/>
            <a:ext cx="530352" cy="530352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171" y="2081723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2670048"/>
            <a:ext cx="27715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Ona tilida, atama asli bilan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0976" y="3456432"/>
            <a:ext cx="27715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Tushuntirish o'zbekcha, texnik atama esa ingliz tilida qoladi — chunki haqiqiy kodda shunday uchraydi. Har atama o'quvchining lug'atiga saqlanadi.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50976" y="5029200"/>
            <a:ext cx="2771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 kalit so'z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99178" y="1627632"/>
            <a:ext cx="3393338" cy="3950208"/>
          </a:xfrm>
          <a:prstGeom prst="roundRect">
            <a:avLst>
              <a:gd name="adj" fmla="val 3773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10074" y="1938528"/>
            <a:ext cx="530352" cy="530352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269" y="2081723"/>
            <a:ext cx="243962" cy="2439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10074" y="2670048"/>
            <a:ext cx="27715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 dars amaliyot bilan tugaydi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10074" y="3456432"/>
            <a:ext cx="27715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Mashq va sinov darslari mavzuga mos interaktiv topshiriq bilan yakunlanadi: sikl darsi sikl jumbog'i bilan, funksiya darsi funksiya bilan.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710074" y="5029200"/>
            <a:ext cx="2771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amaliy dars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58277" y="1627632"/>
            <a:ext cx="3393338" cy="3950208"/>
          </a:xfrm>
          <a:prstGeom prst="roundRect">
            <a:avLst>
              <a:gd name="adj" fmla="val 3773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69173" y="1938528"/>
            <a:ext cx="530352" cy="530352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368" y="2081723"/>
            <a:ext cx="243962" cy="2439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69173" y="2670048"/>
            <a:ext cx="277154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 — o'qitish nuqtasi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469173" y="3456432"/>
            <a:ext cx="277154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 oshkor qilinmaydi. Tizim nima mos kelmaganini aytadi va o'quvchini qayta o'ylashga qaytaradi.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469173" y="5029200"/>
            <a:ext cx="27715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Izoh — to'g'ri javobdan keyin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TUZILISHI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Yo'nalishdan bitta ekrangacha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481328" cy="1371600"/>
          </a:xfrm>
          <a:prstGeom prst="roundRect">
            <a:avLst>
              <a:gd name="adj" fmla="val 9333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7393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86384" y="23042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Yo'nalish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 oqimi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21408" y="164592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05456" y="1645920"/>
            <a:ext cx="1481328" cy="1371600"/>
          </a:xfrm>
          <a:prstGeom prst="roundRect">
            <a:avLst>
              <a:gd name="adj" fmla="val 9333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77393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3042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mavzu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86784" y="164592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70832" y="1645920"/>
            <a:ext cx="1481328" cy="1371600"/>
          </a:xfrm>
          <a:prstGeom prst="roundRect">
            <a:avLst>
              <a:gd name="adj" fmla="val 9333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177393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17136" y="23042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17136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 blok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52160" y="164592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36208" y="1645920"/>
            <a:ext cx="1481328" cy="1371600"/>
          </a:xfrm>
          <a:prstGeom prst="roundRect">
            <a:avLst>
              <a:gd name="adj" fmla="val 9333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177393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82512" y="23042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2512" y="2560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o'tirish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310128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3438510"/>
            <a:ext cx="218724" cy="21872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16736" y="3282696"/>
            <a:ext cx="581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Kurrikulum — kod emas, kontent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1316736" y="3575304"/>
            <a:ext cx="5815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kurs content/ papkasidagi JSON fayllarda yashaydi va build oldidan yig'iladi. Yangi modul qo'shish uchun TypeScript faylga tegilmaydi.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40080" y="4498848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4627230"/>
            <a:ext cx="218724" cy="21872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316736" y="4471416"/>
            <a:ext cx="581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ko'rinishi</a:t>
            </a:r>
            <a:endParaRPr lang="en-US" sz="1550" dirty="0"/>
          </a:p>
        </p:txBody>
      </p:sp>
      <p:sp>
        <p:nvSpPr>
          <p:cNvPr id="30" name="Text 26"/>
          <p:cNvSpPr/>
          <p:nvPr/>
        </p:nvSpPr>
        <p:spPr>
          <a:xfrm>
            <a:off x="1316736" y="4764024"/>
            <a:ext cx="5815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modul disklardan iborat yo'l bo'lib chiziladi: bajarilgan, ochiq va qulflangan darslar bir qarashda ko'rinadi.</a:t>
            </a:r>
            <a:endParaRPr lang="en-US" sz="12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7461504" y="3127248"/>
          <a:ext cx="4114800" cy="29626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ICHIDA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Ekranlar ketma-ketligini muallif belgilaydi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07008" y="1627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07008" y="18836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bu darsdan keyin nima qila oladi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87168"/>
            <a:ext cx="384048" cy="38404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07008" y="2468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Bo'lim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07008" y="27249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Tushuntirish ekrani — matn, kod, rasm, xulosa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384048" cy="38404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07008" y="3310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07008" y="35661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Variantlar har kirishda qaytadan aralashadi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69664"/>
            <a:ext cx="384048" cy="38404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07008" y="41513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 o'yin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07008" y="440740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mos topshiriq, tekshirish bir tugmada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10912"/>
            <a:ext cx="384048" cy="38404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07008" y="49926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07008" y="52486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qo'shiladi, yutuq ochilishi mumkin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26096" y="1645920"/>
            <a:ext cx="3925519" cy="4160520"/>
          </a:xfrm>
          <a:prstGeom prst="roundRect">
            <a:avLst>
              <a:gd name="adj" fmla="val 3261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1883664"/>
            <a:ext cx="32671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Bo'lim ichidagi bloklar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955280" y="2194560"/>
            <a:ext cx="32671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Xohlagan tartibda qo'yiladi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55280" y="2688336"/>
            <a:ext cx="402336" cy="402336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3911" y="2796967"/>
            <a:ext cx="185075" cy="18507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485632" y="2715768"/>
            <a:ext cx="27367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7955280" y="3236976"/>
            <a:ext cx="402336" cy="402336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911" y="3345607"/>
            <a:ext cx="185075" cy="185075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485632" y="3264408"/>
            <a:ext cx="27367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7955280" y="3785616"/>
            <a:ext cx="402336" cy="402336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911" y="3894247"/>
            <a:ext cx="185075" cy="185075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485632" y="3813048"/>
            <a:ext cx="27367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</a:t>
            </a:r>
            <a:endParaRPr lang="en-US" sz="1350" dirty="0"/>
          </a:p>
        </p:txBody>
      </p:sp>
      <p:sp>
        <p:nvSpPr>
          <p:cNvPr id="36" name="Shape 31"/>
          <p:cNvSpPr/>
          <p:nvPr/>
        </p:nvSpPr>
        <p:spPr>
          <a:xfrm>
            <a:off x="7955280" y="4334256"/>
            <a:ext cx="402336" cy="402336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911" y="4442887"/>
            <a:ext cx="185075" cy="185075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485632" y="4361688"/>
            <a:ext cx="27367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1350" dirty="0"/>
          </a:p>
        </p:txBody>
      </p:sp>
      <p:sp>
        <p:nvSpPr>
          <p:cNvPr id="39" name="Text 33"/>
          <p:cNvSpPr/>
          <p:nvPr/>
        </p:nvSpPr>
        <p:spPr>
          <a:xfrm>
            <a:off x="7955280" y="4992624"/>
            <a:ext cx="32671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Masalan: rasm, uning ostida aynan shu rasmni tushuntiruvchi kod. O'quvchi ham xuddi shu tartibda ko'radi.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To'qqizta interaktiv o'yin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429914" cy="1170432"/>
          </a:xfrm>
          <a:prstGeom prst="roundRect">
            <a:avLst>
              <a:gd name="adj" fmla="val 10938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847088"/>
            <a:ext cx="420624" cy="420624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392" y="1960656"/>
            <a:ext cx="193487" cy="1934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8176" y="1828800"/>
            <a:ext cx="2424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Ketma-ketlik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08176" y="2121408"/>
            <a:ext cx="24240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Aralash qadamlarni to'g'ri tartibda terish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0890" y="1627632"/>
            <a:ext cx="3429914" cy="1170432"/>
          </a:xfrm>
          <a:prstGeom prst="roundRect">
            <a:avLst>
              <a:gd name="adj" fmla="val 10938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8634" y="1847088"/>
            <a:ext cx="420624" cy="420624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203" y="1960656"/>
            <a:ext cx="193487" cy="1934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8986" y="1828800"/>
            <a:ext cx="2424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maydoni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148986" y="2121408"/>
            <a:ext cx="24240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 yozib robotni yulduzga olib borish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21701" y="1627632"/>
            <a:ext cx="3429914" cy="1170432"/>
          </a:xfrm>
          <a:prstGeom prst="roundRect">
            <a:avLst>
              <a:gd name="adj" fmla="val 10938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9445" y="1847088"/>
            <a:ext cx="420624" cy="420624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013" y="1960656"/>
            <a:ext cx="193487" cy="1934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89797" y="1828800"/>
            <a:ext cx="2424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Xatoni topish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889797" y="2121408"/>
            <a:ext cx="24240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Maqsadga zid bo'lgan qatorni belgilash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072384"/>
            <a:ext cx="3429914" cy="1170432"/>
          </a:xfrm>
          <a:prstGeom prst="roundRect">
            <a:avLst>
              <a:gd name="adj" fmla="val 10938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77824" y="3291840"/>
            <a:ext cx="420624" cy="420624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92" y="3405408"/>
            <a:ext cx="193487" cy="1934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08176" y="3273552"/>
            <a:ext cx="2424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 naqshi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408176" y="3566160"/>
            <a:ext cx="24240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Takrorlanuvchi bo'lakni va takror sonini topish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0890" y="3072384"/>
            <a:ext cx="3429914" cy="1170432"/>
          </a:xfrm>
          <a:prstGeom prst="roundRect">
            <a:avLst>
              <a:gd name="adj" fmla="val 10938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18634" y="3291840"/>
            <a:ext cx="420624" cy="420624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203" y="3405408"/>
            <a:ext cx="193487" cy="1934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48986" y="3273552"/>
            <a:ext cx="2424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 fabrikasi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148986" y="3566160"/>
            <a:ext cx="24240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funksiya, turli argumentlar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21701" y="3072384"/>
            <a:ext cx="3429914" cy="1170432"/>
          </a:xfrm>
          <a:prstGeom prst="roundRect">
            <a:avLst>
              <a:gd name="adj" fmla="val 10938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9445" y="3291840"/>
            <a:ext cx="420624" cy="420624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3013" y="3405408"/>
            <a:ext cx="193487" cy="1934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89797" y="3273552"/>
            <a:ext cx="2424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Shakllarni bo'yash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889797" y="3566160"/>
            <a:ext cx="24240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argumentini to'ldirib namunaga yetish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40080" y="4517136"/>
            <a:ext cx="3429914" cy="1170432"/>
          </a:xfrm>
          <a:prstGeom prst="roundRect">
            <a:avLst>
              <a:gd name="adj" fmla="val 10938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77824" y="4736592"/>
            <a:ext cx="420624" cy="420624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392" y="4850160"/>
            <a:ext cx="193487" cy="19348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08176" y="4718304"/>
            <a:ext cx="2424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Shartlar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1408176" y="5010912"/>
            <a:ext cx="24240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/ aks holda qoidasini yig'ish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380890" y="4517136"/>
            <a:ext cx="3429914" cy="1170432"/>
          </a:xfrm>
          <a:prstGeom prst="roundRect">
            <a:avLst>
              <a:gd name="adj" fmla="val 10938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618634" y="4736592"/>
            <a:ext cx="420624" cy="420624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2203" y="4850160"/>
            <a:ext cx="193487" cy="19348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48986" y="4718304"/>
            <a:ext cx="2424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O'zgaruvchilar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5148986" y="5010912"/>
            <a:ext cx="24240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Oxirgi qiymatni oldindan aytish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8121701" y="4517136"/>
            <a:ext cx="3429914" cy="1170432"/>
          </a:xfrm>
          <a:prstGeom prst="roundRect">
            <a:avLst>
              <a:gd name="adj" fmla="val 10938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359445" y="4736592"/>
            <a:ext cx="420624" cy="420624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3013" y="4850160"/>
            <a:ext cx="193487" cy="193487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889797" y="4718304"/>
            <a:ext cx="2424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Samaradorlik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8889797" y="5010912"/>
            <a:ext cx="24240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Nechta tekshiruv kerakligini sanash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640080" y="60350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o'yin sensorli ekranda ham ishlaydi: bloklar barmoq bilan ushlab tashlanadi.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TAKRORLANMASLIK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 darsga o'z topshirig'i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591056"/>
            <a:ext cx="3413455" cy="1133856"/>
          </a:xfrm>
          <a:prstGeom prst="roundRect">
            <a:avLst>
              <a:gd name="adj" fmla="val 11290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39328" y="1719072"/>
            <a:ext cx="30111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339328" y="2249424"/>
            <a:ext cx="30111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jumboq — to'qqiz o'yin bo'ylab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138160" y="3017520"/>
            <a:ext cx="3413455" cy="1133856"/>
          </a:xfrm>
          <a:prstGeom prst="roundRect">
            <a:avLst>
              <a:gd name="adj" fmla="val 11290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39328" y="3145536"/>
            <a:ext cx="30111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339328" y="3675888"/>
            <a:ext cx="30111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amaliy darsda takrorlangan topshiriq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138160" y="4443984"/>
            <a:ext cx="34134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Jumboq dars id sining xeshi bilan tanlanardi va to'qnashuvlar qoida edi. Endi har dars o'z o'yini ichida raqamlanadi va ro'yxat navbat bilan bosib chiqiladi.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MOTIVATSIYA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Davom etishga sabab beradigan tizim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2522144" cy="1133856"/>
          </a:xfrm>
          <a:prstGeom prst="roundRect">
            <a:avLst>
              <a:gd name="adj" fmla="val 11290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37360"/>
            <a:ext cx="211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1 520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2267712"/>
            <a:ext cx="211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to'planadigan XP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36544" y="1609344"/>
            <a:ext cx="2522144" cy="1133856"/>
          </a:xfrm>
          <a:prstGeom prst="roundRect">
            <a:avLst>
              <a:gd name="adj" fmla="val 11290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7712" y="1737360"/>
            <a:ext cx="211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37712" y="2267712"/>
            <a:ext cx="211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yutuq nishoni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1609344"/>
            <a:ext cx="2522144" cy="1133856"/>
          </a:xfrm>
          <a:prstGeom prst="roundRect">
            <a:avLst>
              <a:gd name="adj" fmla="val 11290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4176" y="1737360"/>
            <a:ext cx="211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34176" y="2267712"/>
            <a:ext cx="211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soat o'quv materiali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29471" y="1609344"/>
            <a:ext cx="2522144" cy="1133856"/>
          </a:xfrm>
          <a:prstGeom prst="roundRect">
            <a:avLst>
              <a:gd name="adj" fmla="val 11290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0639" y="1737360"/>
            <a:ext cx="211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30639" y="2267712"/>
            <a:ext cx="211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yutuq guruhi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3255630"/>
            <a:ext cx="218724" cy="21872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16736" y="3099816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Faollik zanjiri va XP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1316736" y="3392424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Kunlik zanjir uzilsa nolga tushadi, XP esa har dars uchun bir marta beriladi — orqaga qaytib qayta yechish hisoblanmaydi.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4370832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4499214"/>
            <a:ext cx="218724" cy="21872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316736" y="4343400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Yutuqlar to'rt guruhda</a:t>
            </a:r>
            <a:endParaRPr lang="en-US" sz="1550" dirty="0"/>
          </a:p>
        </p:txBody>
      </p:sp>
      <p:sp>
        <p:nvSpPr>
          <p:cNvPr id="23" name="Text 19"/>
          <p:cNvSpPr/>
          <p:nvPr/>
        </p:nvSpPr>
        <p:spPr>
          <a:xfrm>
            <a:off x="1316736" y="4636008"/>
            <a:ext cx="4718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Boshlash · Izchillik · Mahorat · Chuqurlik. Nishon holati progressdan har safar qaytadan hisoblanadi — faqat tabriklangani eslab qolinadi, shuning uchun yangi nishon migratsiya talab qilmaydi.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711696" y="3127248"/>
            <a:ext cx="4839919" cy="2432304"/>
          </a:xfrm>
          <a:prstGeom prst="roundRect">
            <a:avLst>
              <a:gd name="adj" fmla="val 5263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040880" y="3401568"/>
            <a:ext cx="493776" cy="493776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200" y="3534888"/>
            <a:ext cx="227137" cy="22713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040880" y="4059936"/>
            <a:ext cx="41815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darajasida davom ettirish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7040880" y="4425696"/>
            <a:ext cx="4181551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«Sikllar» ni eslaydi, «m2-l2-3» ni emas. Shuning uchun bosh sahifa dars emas, modul kartasini ko'rsatadi va uni to'g'ri darsdan davom ettiradi.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MUHARRIRI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Writer — modulni brauzerda yozish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1774302"/>
            <a:ext cx="218724" cy="2187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1848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Tuzilma daraxti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16736" y="1911096"/>
            <a:ext cx="5632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Modul, bosqich va darslar bitta ro'yxatda: qo'shish, ko'chirish, o'chirish. Muammoli tugunda qizil nuqta turadi.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44368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307275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916936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Inspektor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16736" y="3209544"/>
            <a:ext cx="5632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Tanlangan narsaning formasi: dars qadamlari, bo'lim bloklari, savol variantlari, rasm — havola yoki yuklash orqali.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242816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4371198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4215384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ko'rinish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16736" y="4507992"/>
            <a:ext cx="5632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Modullar ro'yxati → dars yo'li → darsning o'zi. Ichida haqiqiy dars ijrochisi va haqiqiy o'yin ishlaydi.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223760" y="1645920"/>
            <a:ext cx="4327855" cy="3931920"/>
          </a:xfrm>
          <a:prstGeom prst="roundRect">
            <a:avLst>
              <a:gd name="adj" fmla="val 3256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552944" y="1920240"/>
            <a:ext cx="493776" cy="493776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4" y="2053560"/>
            <a:ext cx="227137" cy="22713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52944" y="2578608"/>
            <a:ext cx="36694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Eksport — tayyor ZIP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7552944" y="2999232"/>
            <a:ext cx="3669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content/modules/…/mod-7.json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552944" y="3310128"/>
            <a:ext cx="3669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content/lessons/…/m7-l1-1.json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552944" y="3621024"/>
            <a:ext cx="3669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public/images/lessons/…png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552944" y="3931920"/>
            <a:ext cx="3669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4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content/tracks.json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552944" y="4370832"/>
            <a:ext cx="366948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Yuklangan rasm qoralamada saqlanadi va eksportda haqiqiy faylga aylanadi — muallif hech narsani qo'lda ko'chirmaydi.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552944" y="5175504"/>
            <a:ext cx="3669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avtomatik tekshiruv eksportdan oldin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 QARORLARI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Testni chetlab o'tish yo'lini yopish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0" cy="2286000"/>
          </a:xfrm>
          <a:prstGeom prst="roundRect">
            <a:avLst>
              <a:gd name="adj" fmla="val 5600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865376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javob eng uzun variant bo'lgan savollar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9264" y="2212848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7984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688336" y="221284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46704" y="2212848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969264" y="3145536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savoldan 57 tasi qo'lda qayta yozildi; qoida endi tekshirgichga o'rnatilgan.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315968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4444350"/>
            <a:ext cx="218724" cy="2187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16736" y="4288536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Variantlar har kirishda aralashadi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316736" y="4581144"/>
            <a:ext cx="4352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Javobning o'rni yodda qolmaydi — mavzu esda qoladi.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35040" y="1700784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422" y="1829166"/>
            <a:ext cx="218724" cy="2187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11696" y="1673352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javobda to'g'risi ko'rsatilmaydi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711696" y="1965960"/>
            <a:ext cx="48399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Yashil belgi ham, izoh ham chiqmaydi: aks holda ikkinchi urinish ko'chirishga aylanadi. Izoh to'g'ri javobdan keyin ochiladi.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35040" y="3127248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422" y="3255630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11696" y="3099816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Orqaga qaytish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711696" y="3392424"/>
            <a:ext cx="48399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Savoldan oldingi tushuntirishni qayta o'qish mumkin. Qayta yechilgan o'yin uchun XP ikkinchi marta berilmaydi.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035040" y="4553712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422" y="4682094"/>
            <a:ext cx="218724" cy="2187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11696" y="4526280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Ovozni o'chirish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711696" y="4818888"/>
            <a:ext cx="48399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Matnni o'qib berish yoqilgan bo'lsa ham, dars ichida bir tugma bilan butunlay o'chiriladi.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TOMONI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To'rt qatlam, bitta shartnoma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10911535" cy="859536"/>
          </a:xfrm>
          <a:prstGeom prst="roundRect">
            <a:avLst>
              <a:gd name="adj" fmla="val 14894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83080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782" y="1911462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728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qatlami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72768" y="2002536"/>
            <a:ext cx="9631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 Router, React 18, TypeScript, Tailwind. Dars matni serverda o'qiladi — brauzerga yuklanadigan paketga tushmaydi.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724912"/>
            <a:ext cx="10911535" cy="859536"/>
          </a:xfrm>
          <a:prstGeom prst="roundRect">
            <a:avLst>
              <a:gd name="adj" fmla="val 14894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2916936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82" y="3045318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72768" y="2862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qatlami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572768" y="3136392"/>
            <a:ext cx="9631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content/ ichidagi JSON build oldidan yig'iladi. Dars ichidagi tartib ham shu faylda — yangi shakl eski fayllarni buzmaydi.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58768"/>
            <a:ext cx="10911535" cy="859536"/>
          </a:xfrm>
          <a:prstGeom prst="roundRect">
            <a:avLst>
              <a:gd name="adj" fmla="val 14894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050792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782" y="4179174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3995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O'yinlar qatlami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72768" y="4270248"/>
            <a:ext cx="9631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To'qqiz mustaqil modul, bitta shartnoma (GameProps). Yangi o'yin ro'yxatga qo'shilishi bilan darslarga ulanadi.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992624"/>
            <a:ext cx="10911535" cy="859536"/>
          </a:xfrm>
          <a:prstGeom prst="roundRect">
            <a:avLst>
              <a:gd name="adj" fmla="val 14894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5184648"/>
            <a:ext cx="475488" cy="47548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782" y="5313030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72768" y="5129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Muharrir qatlami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572768" y="5404104"/>
            <a:ext cx="9631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qoralamani xuddi eksport shaklida saqlaydi, shuning uchun ko'rinish va chiqadigan fayl bir-biridan uzoqlashmaydi.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6016752"/>
            <a:ext cx="232166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40080" y="6016752"/>
            <a:ext cx="23216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fayl · 23 000 qator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3126334" y="6016752"/>
            <a:ext cx="198150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126334" y="6016752"/>
            <a:ext cx="19815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TypeScript xatosi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272430" y="6016752"/>
            <a:ext cx="24917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272430" y="6016752"/>
            <a:ext cx="2491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80/80 kontent fayli valid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928762" y="6016752"/>
            <a:ext cx="2151583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928762" y="6016752"/>
            <a:ext cx="21515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eksport tekshiruvi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7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HOLAT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4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Raqamlarda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3429914" cy="1572768"/>
          </a:xfrm>
          <a:prstGeom prst="roundRect">
            <a:avLst>
              <a:gd name="adj" fmla="val 8140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975104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32688" y="2670048"/>
            <a:ext cx="28446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— 6 modul, 18 bosqich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0890" y="1700784"/>
            <a:ext cx="3429914" cy="1572768"/>
          </a:xfrm>
          <a:prstGeom prst="roundRect">
            <a:avLst>
              <a:gd name="adj" fmla="val 8140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73498" y="1975104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73498" y="2670048"/>
            <a:ext cx="28446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tekshiruv savoli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1701" y="1700784"/>
            <a:ext cx="3429914" cy="1572768"/>
          </a:xfrm>
          <a:prstGeom prst="roundRect">
            <a:avLst>
              <a:gd name="adj" fmla="val 8140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4309" y="1975104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228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414309" y="2670048"/>
            <a:ext cx="28446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 so'z, lug'atga saqlanadi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84448"/>
            <a:ext cx="3429914" cy="1572768"/>
          </a:xfrm>
          <a:prstGeom prst="roundRect">
            <a:avLst>
              <a:gd name="adj" fmla="val 8140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858768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32688" y="4553712"/>
            <a:ext cx="28446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 o'yin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0890" y="3584448"/>
            <a:ext cx="3429914" cy="1572768"/>
          </a:xfrm>
          <a:prstGeom prst="roundRect">
            <a:avLst>
              <a:gd name="adj" fmla="val 8140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3498" y="3858768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673498" y="4553712"/>
            <a:ext cx="28446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alohida jumboq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21701" y="3584448"/>
            <a:ext cx="3429914" cy="1572768"/>
          </a:xfrm>
          <a:prstGeom prst="roundRect">
            <a:avLst>
              <a:gd name="adj" fmla="val 8140"/>
            </a:avLst>
          </a:prstGeom>
          <a:solidFill>
            <a:srgbClr val="F5F7F5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4309" y="3858768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78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414309" y="4553712"/>
            <a:ext cx="28446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yutuq nishoni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0350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yo'nalish to'liq yozilgan; ikkitasi tayyorlanmoqda.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6B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QADAMLAR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Yo'l xaritasi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93338" cy="2286000"/>
          </a:xfrm>
          <a:prstGeom prst="roundRect">
            <a:avLst>
              <a:gd name="adj" fmla="val 5600"/>
            </a:avLst>
          </a:prstGeom>
          <a:solidFill>
            <a:srgbClr val="1E2723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938528"/>
            <a:ext cx="28081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B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432304"/>
            <a:ext cx="28081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tahlili va Python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3035808"/>
            <a:ext cx="2808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Ikkinchi yo'nalish — kurrikulum tayyor bo'lgani uchun kodga tegilmaydi, faqat kontent yoziladi.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9178" y="1737360"/>
            <a:ext cx="3393338" cy="2286000"/>
          </a:xfrm>
          <a:prstGeom prst="roundRect">
            <a:avLst>
              <a:gd name="adj" fmla="val 5600"/>
            </a:avLst>
          </a:prstGeom>
          <a:solidFill>
            <a:srgbClr val="1E2723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1786" y="1938528"/>
            <a:ext cx="28081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B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91786" y="2432304"/>
            <a:ext cx="28081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paneli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1786" y="3035808"/>
            <a:ext cx="2808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 bo'yicha progress, qaysi darsda qancha o'quvchi to'xtab qolgani.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8277" y="1737360"/>
            <a:ext cx="3393338" cy="2286000"/>
          </a:xfrm>
          <a:prstGeom prst="roundRect">
            <a:avLst>
              <a:gd name="adj" fmla="val 5600"/>
            </a:avLst>
          </a:prstGeom>
          <a:solidFill>
            <a:srgbClr val="1E2723"/>
          </a:solidFill>
          <a:ln w="12700">
            <a:solidFill>
              <a:srgbClr val="2733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0885" y="1938528"/>
            <a:ext cx="28081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B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50885" y="2432304"/>
            <a:ext cx="28081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progressi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0885" y="3035808"/>
            <a:ext cx="28081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 progress brauzerda; akkaunt bilan qurilmalar orasida sinxronlanadi.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718304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Codegarten — o'zbek o'quvchi uchun birinchi darsdan boshlab amaliy informatika.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56875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B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github.com/uz4studiosuz/codegarten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Codegarten — loyiha taqdimoti</dc:title>
  <dc:subject>PptxGenJS Presentation</dc:subject>
  <dc:creator>Codegarten</dc:creator>
  <cp:lastModifiedBy>Codegarten</cp:lastModifiedBy>
  <cp:revision>1</cp:revision>
  <dcterms:created xsi:type="dcterms:W3CDTF">2026-08-20T03:35:29Z</dcterms:created>
  <dcterms:modified xsi:type="dcterms:W3CDTF">2026-08-20T03:35:29Z</dcterms:modified>
</cp:coreProperties>
</file>